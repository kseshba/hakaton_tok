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07bc2082c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07bc2082c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7bc2082c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07bc2082c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07bc2082c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07bc2082c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7bc2082c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07bc2082c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8F4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 flipH="1">
            <a:off x="311708" y="4229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059">
                <a:latin typeface="Georgia"/>
                <a:ea typeface="Georgia"/>
                <a:cs typeface="Georgia"/>
                <a:sym typeface="Georgia"/>
              </a:rPr>
              <a:t>Автоматическое формирование «Оглавления» в pdf файлах</a:t>
            </a:r>
            <a:endParaRPr sz="388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279050" y="2708100"/>
            <a:ext cx="2962200" cy="19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 sz="3035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ru" sz="3035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Ленков Валерий</a:t>
            </a:r>
            <a:br>
              <a:rPr lang="ru" sz="3035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ru" sz="3035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Томаева Муниса</a:t>
            </a:r>
            <a:endParaRPr sz="3035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35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Орехова Ксения</a:t>
            </a:r>
            <a:endParaRPr sz="3035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35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Гревцева Анжелика</a:t>
            </a:r>
            <a:endParaRPr sz="3035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114299" y="0"/>
            <a:ext cx="8330100" cy="4658100"/>
          </a:xfrm>
          <a:prstGeom prst="curvedConnector3">
            <a:avLst>
              <a:gd fmla="val -8858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4572000" y="2708100"/>
            <a:ext cx="37101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35">
                <a:solidFill>
                  <a:srgbClr val="1F1F1F"/>
                </a:solidFill>
                <a:latin typeface="Georgia"/>
                <a:ea typeface="Georgia"/>
                <a:cs typeface="Georgia"/>
                <a:sym typeface="Georgia"/>
              </a:rPr>
              <a:t>Команда Silentiu</a:t>
            </a:r>
            <a:r>
              <a:rPr b="1" lang="ru" sz="2735">
                <a:solidFill>
                  <a:srgbClr val="1F1F1F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-105600" y="-49175"/>
            <a:ext cx="9249600" cy="1058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66666"/>
              </a:highlight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54475" y="26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220"/>
              <a:t>Задача</a:t>
            </a:r>
            <a:endParaRPr b="1" sz="3220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409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Создание сервиса для автоматического добавления “Оглавления“ с ссылками на конкретные страницы в pdf файл, загруженный клиентом.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-168950" y="-49175"/>
            <a:ext cx="9408600" cy="1058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66666"/>
              </a:highlight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54475" y="241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" sz="3600"/>
              <a:t>Концептуальная схема сервиса</a:t>
            </a:r>
            <a:endParaRPr b="1"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403897" y="2405926"/>
            <a:ext cx="1800000" cy="1440000"/>
          </a:xfrm>
          <a:prstGeom prst="roundRect">
            <a:avLst>
              <a:gd fmla="val 16667" name="adj"/>
            </a:avLst>
          </a:prstGeom>
          <a:noFill/>
          <a:ln cap="flat" cmpd="sng" w="720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00" lIns="126000" spcFirstLastPara="1" rIns="126000" wrap="square" tIns="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Клиент отправляет pdf на обработку POST и проверяет его готовность GET запросами.</a:t>
            </a:r>
            <a:endParaRPr sz="1800"/>
          </a:p>
        </p:txBody>
      </p:sp>
      <p:cxnSp>
        <p:nvCxnSpPr>
          <p:cNvPr id="72" name="Google Shape;72;p15"/>
          <p:cNvCxnSpPr/>
          <p:nvPr/>
        </p:nvCxnSpPr>
        <p:spPr>
          <a:xfrm>
            <a:off x="2203897" y="3130776"/>
            <a:ext cx="1260000" cy="0"/>
          </a:xfrm>
          <a:prstGeom prst="straightConnector1">
            <a:avLst/>
          </a:prstGeom>
          <a:noFill/>
          <a:ln cap="flat" cmpd="sng" w="36000">
            <a:solidFill>
              <a:srgbClr val="38761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3" name="Google Shape;73;p15"/>
          <p:cNvSpPr/>
          <p:nvPr/>
        </p:nvSpPr>
        <p:spPr>
          <a:xfrm>
            <a:off x="3463897" y="2410776"/>
            <a:ext cx="2160000" cy="1440000"/>
          </a:xfrm>
          <a:prstGeom prst="roundRect">
            <a:avLst>
              <a:gd fmla="val 16667" name="adj"/>
            </a:avLst>
          </a:prstGeom>
          <a:noFill/>
          <a:ln cap="flat" cmpd="sng" w="720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00" lIns="126000" spcFirstLastPara="1" rIns="126000" wrap="square" tIns="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REST API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/add_toc  POST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/result/id GET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74" name="Google Shape;74;p15"/>
          <p:cNvCxnSpPr/>
          <p:nvPr/>
        </p:nvCxnSpPr>
        <p:spPr>
          <a:xfrm flipH="1" rot="10800000">
            <a:off x="4717672" y="2059786"/>
            <a:ext cx="1980300" cy="351000"/>
          </a:xfrm>
          <a:prstGeom prst="bentConnector3">
            <a:avLst>
              <a:gd fmla="val 50002" name="adj1"/>
            </a:avLst>
          </a:prstGeom>
          <a:noFill/>
          <a:ln cap="flat" cmpd="sng" w="3600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15"/>
          <p:cNvSpPr/>
          <p:nvPr/>
        </p:nvSpPr>
        <p:spPr>
          <a:xfrm>
            <a:off x="6697972" y="1190826"/>
            <a:ext cx="2160000" cy="1747200"/>
          </a:xfrm>
          <a:prstGeom prst="roundRect">
            <a:avLst>
              <a:gd fmla="val 16667" name="adj"/>
            </a:avLst>
          </a:prstGeom>
          <a:noFill/>
          <a:ln cap="flat" cmpd="sng" w="720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00" lIns="126000" spcFirstLastPara="1" rIns="126000" wrap="square" tIns="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extract_text.py</a:t>
            </a:r>
            <a:endParaRPr>
              <a:solidFill>
                <a:schemeClr val="dk1"/>
              </a:solidFill>
            </a:endParaRPr>
          </a:p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"/>
              <a:buFont typeface="Noto Sans Symbols"/>
              <a:buChar char="●"/>
            </a:pPr>
            <a:r>
              <a:rPr lang="ru">
                <a:solidFill>
                  <a:schemeClr val="dk1"/>
                </a:solidFill>
              </a:rPr>
              <a:t>.pdf parsing</a:t>
            </a:r>
            <a:endParaRPr>
              <a:solidFill>
                <a:schemeClr val="dk1"/>
              </a:solidFill>
            </a:endParaRPr>
          </a:p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"/>
              <a:buFont typeface="Noto Sans Symbols"/>
              <a:buChar char="●"/>
            </a:pPr>
            <a:r>
              <a:rPr lang="ru">
                <a:solidFill>
                  <a:schemeClr val="dk1"/>
                </a:solidFill>
              </a:rPr>
              <a:t>text collecting</a:t>
            </a:r>
            <a:endParaRPr>
              <a:solidFill>
                <a:schemeClr val="dk1"/>
              </a:solidFill>
            </a:endParaRPr>
          </a:p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"/>
              <a:buFont typeface="Noto Sans Symbols"/>
              <a:buChar char="●"/>
            </a:pPr>
            <a:r>
              <a:rPr lang="ru">
                <a:solidFill>
                  <a:schemeClr val="dk1"/>
                </a:solidFill>
              </a:rPr>
              <a:t>CV</a:t>
            </a:r>
            <a:endParaRPr>
              <a:solidFill>
                <a:schemeClr val="dk1"/>
              </a:solidFill>
            </a:endParaRPr>
          </a:p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"/>
              <a:buFont typeface="Noto Sans Symbols"/>
              <a:buChar char="●"/>
            </a:pPr>
            <a:r>
              <a:rPr lang="ru">
                <a:solidFill>
                  <a:schemeClr val="dk1"/>
                </a:solidFill>
              </a:rPr>
              <a:t>OCR</a:t>
            </a:r>
            <a:endParaRPr>
              <a:solidFill>
                <a:schemeClr val="dk1"/>
              </a:solidFill>
            </a:endParaRPr>
          </a:p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"/>
              <a:buFont typeface="Noto Sans Symbols"/>
              <a:buChar char="●"/>
            </a:pPr>
            <a:r>
              <a:rPr lang="ru">
                <a:solidFill>
                  <a:schemeClr val="dk1"/>
                </a:solidFill>
              </a:rPr>
              <a:t>text joining</a:t>
            </a:r>
            <a:endParaRPr>
              <a:solidFill>
                <a:schemeClr val="dk1"/>
              </a:solidFill>
            </a:endParaRPr>
          </a:p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"/>
              <a:buFont typeface="Noto Sans Symbols"/>
              <a:buChar char="●"/>
            </a:pPr>
            <a:r>
              <a:rPr lang="ru">
                <a:solidFill>
                  <a:schemeClr val="dk1"/>
                </a:solidFill>
              </a:rPr>
              <a:t>text preprocessing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6" name="Google Shape;76;p15"/>
          <p:cNvCxnSpPr/>
          <p:nvPr/>
        </p:nvCxnSpPr>
        <p:spPr>
          <a:xfrm rot="10800000">
            <a:off x="4717672" y="3850776"/>
            <a:ext cx="1980300" cy="432300"/>
          </a:xfrm>
          <a:prstGeom prst="bentConnector3">
            <a:avLst>
              <a:gd fmla="val 55438" name="adj1"/>
            </a:avLst>
          </a:prstGeom>
          <a:noFill/>
          <a:ln cap="flat" cmpd="sng" w="3600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" name="Google Shape;77;p15"/>
          <p:cNvSpPr/>
          <p:nvPr/>
        </p:nvSpPr>
        <p:spPr>
          <a:xfrm>
            <a:off x="6697972" y="3550026"/>
            <a:ext cx="2160000" cy="1440000"/>
          </a:xfrm>
          <a:prstGeom prst="roundRect">
            <a:avLst>
              <a:gd fmla="val 16667" name="adj"/>
            </a:avLst>
          </a:prstGeom>
          <a:noFill/>
          <a:ln cap="flat" cmpd="sng" w="720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000" lIns="126000" spcFirstLastPara="1" rIns="126000" wrap="square" tIns="8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text_analysis.py</a:t>
            </a:r>
            <a:endParaRPr>
              <a:solidFill>
                <a:schemeClr val="dk1"/>
              </a:solidFill>
            </a:endParaRPr>
          </a:p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"/>
              <a:buFont typeface="Noto Sans Symbols"/>
              <a:buChar char="●"/>
            </a:pPr>
            <a:r>
              <a:rPr lang="ru">
                <a:solidFill>
                  <a:schemeClr val="dk1"/>
                </a:solidFill>
              </a:rPr>
              <a:t>NLP</a:t>
            </a:r>
            <a:endParaRPr>
              <a:solidFill>
                <a:schemeClr val="dk1"/>
              </a:solidFill>
            </a:endParaRPr>
          </a:p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0"/>
              <a:buFont typeface="Noto Sans Symbols"/>
              <a:buChar char="●"/>
            </a:pPr>
            <a:r>
              <a:rPr lang="ru">
                <a:solidFill>
                  <a:schemeClr val="dk1"/>
                </a:solidFill>
              </a:rPr>
              <a:t>Add TOC\annotations</a:t>
            </a:r>
            <a:endParaRPr>
              <a:solidFill>
                <a:schemeClr val="dk1"/>
              </a:solidFill>
            </a:endParaRPr>
          </a:p>
          <a:p>
            <a:pPr indent="-175995" lvl="0" marL="216000" rtl="0" algn="l">
              <a:spcBef>
                <a:spcPts val="0"/>
              </a:spcBef>
              <a:spcAft>
                <a:spcPts val="0"/>
              </a:spcAft>
              <a:buSzPts val="63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8" name="Google Shape;78;p15"/>
          <p:cNvCxnSpPr/>
          <p:nvPr/>
        </p:nvCxnSpPr>
        <p:spPr>
          <a:xfrm>
            <a:off x="7777972" y="2938026"/>
            <a:ext cx="0" cy="612000"/>
          </a:xfrm>
          <a:prstGeom prst="straightConnector1">
            <a:avLst/>
          </a:prstGeom>
          <a:noFill/>
          <a:ln cap="flat" cmpd="sng" w="3600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-286575" y="0"/>
            <a:ext cx="9741600" cy="100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66666"/>
              </a:highlight>
            </a:endParaRPr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54475" y="27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220"/>
              <a:t>Пример обработки документа</a:t>
            </a:r>
            <a:endParaRPr b="1" sz="3220"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850" y="1084589"/>
            <a:ext cx="3672725" cy="16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9375" y="2833950"/>
            <a:ext cx="4179266" cy="214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650" y="2791179"/>
            <a:ext cx="4454349" cy="21417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6"/>
          <p:cNvCxnSpPr/>
          <p:nvPr/>
        </p:nvCxnSpPr>
        <p:spPr>
          <a:xfrm flipH="1" rot="10800000">
            <a:off x="2686175" y="2452925"/>
            <a:ext cx="716400" cy="673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6"/>
          <p:cNvCxnSpPr/>
          <p:nvPr/>
        </p:nvCxnSpPr>
        <p:spPr>
          <a:xfrm flipH="1" rot="-5400000">
            <a:off x="5844475" y="2452925"/>
            <a:ext cx="716400" cy="673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-307975" y="-49175"/>
            <a:ext cx="9547500" cy="1058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666666"/>
              </a:highlight>
            </a:endParaRPr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354475" y="273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220"/>
              <a:t>Результат </a:t>
            </a:r>
            <a:endParaRPr b="1" sz="3220"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000000"/>
                </a:solidFill>
              </a:rPr>
              <a:t>В рамках работы над проектом были освоены навыки обработки неструктурированных данных на примере pdf файла, предобработки изображений и извлечения текста текста из них, а также методы обработки естественных языков (NLP) к текстовыми данным.</a:t>
            </a:r>
            <a:br>
              <a:rPr lang="ru">
                <a:solidFill>
                  <a:srgbClr val="000000"/>
                </a:solidFill>
              </a:rPr>
            </a:br>
            <a:r>
              <a:rPr lang="ru">
                <a:solidFill>
                  <a:srgbClr val="000000"/>
                </a:solidFill>
              </a:rPr>
              <a:t>В качестве результата предоставляем </a:t>
            </a:r>
            <a:r>
              <a:rPr lang="ru">
                <a:solidFill>
                  <a:srgbClr val="000000"/>
                </a:solidFill>
              </a:rPr>
              <a:t>git репозиторий.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